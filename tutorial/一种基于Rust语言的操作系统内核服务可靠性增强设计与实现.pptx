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99" r:id="rId7"/>
    <p:sldId id="301" r:id="rId8"/>
    <p:sldId id="259" r:id="rId9"/>
    <p:sldId id="362" r:id="rId10"/>
    <p:sldId id="363" r:id="rId11"/>
    <p:sldId id="300" r:id="rId12"/>
    <p:sldId id="327" r:id="rId13"/>
    <p:sldId id="326" r:id="rId14"/>
    <p:sldId id="364" r:id="rId15"/>
    <p:sldId id="262" r:id="rId16"/>
    <p:sldId id="346" r:id="rId17"/>
    <p:sldId id="264" r:id="rId18"/>
    <p:sldId id="265" r:id="rId19"/>
    <p:sldId id="365" r:id="rId20"/>
    <p:sldId id="269" r:id="rId21"/>
    <p:sldId id="266" r:id="rId22"/>
    <p:sldId id="267" r:id="rId23"/>
    <p:sldId id="270" r:id="rId24"/>
    <p:sldId id="271" r:id="rId25"/>
    <p:sldId id="292" r:id="rId26"/>
    <p:sldId id="272" r:id="rId27"/>
    <p:sldId id="274" r:id="rId28"/>
    <p:sldId id="366" r:id="rId29"/>
    <p:sldId id="276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1766875"/>
            <a:ext cx="1838325" cy="1828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1764494"/>
            <a:ext cx="1838325" cy="18288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jpeg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jpeg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jpeg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中国人民解放军国防科技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8435" y="1740535"/>
            <a:ext cx="1870710" cy="187515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14325" y="1119188"/>
            <a:ext cx="5915977" cy="1624013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010" b="1" dirty="0">
                <a:solidFill>
                  <a:srgbClr val="1F43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面向RustOS的可靠性增强内核架构设计</a:t>
            </a:r>
            <a:endParaRPr lang="en-US" sz="3010" b="1" dirty="0">
              <a:solidFill>
                <a:srgbClr val="1F436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4325" y="3771900"/>
            <a:ext cx="1619250" cy="276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x-none" dirty="0">
                <a:solidFill>
                  <a:srgbClr val="1F426A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黑袍纠察队</a:t>
            </a:r>
            <a:endParaRPr lang="zh-CN" altLang="x-none" dirty="0">
              <a:solidFill>
                <a:srgbClr val="1F426A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14588" y="3771900"/>
            <a:ext cx="1619250" cy="276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dirty="0">
                <a:solidFill>
                  <a:srgbClr val="1F436B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国防科技大学</a:t>
            </a:r>
            <a:endParaRPr lang="zh-CN" altLang="en-US" dirty="0">
              <a:solidFill>
                <a:srgbClr val="1F436B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175" y="1909762"/>
            <a:ext cx="2290763" cy="165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609975" y="1095375"/>
            <a:ext cx="4981575" cy="2491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绪论</a:t>
            </a:r>
            <a:endParaRPr lang="en-US" sz="2400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可靠性增强内核架构设计</a:t>
            </a:r>
            <a:endParaRPr lang="en-US" sz="2400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实验分析</a:t>
            </a:r>
            <a:endParaRPr lang="en-US" sz="2400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88" y="1952625"/>
            <a:ext cx="1452563" cy="12430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267075" y="2128838"/>
            <a:ext cx="5101590" cy="1647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altLang="en-US" sz="350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绪论</a:t>
            </a:r>
            <a:endParaRPr lang="zh-CN" altLang="en-US" sz="350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绪论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653415"/>
            <a:ext cx="7715250" cy="43408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ea typeface="宋体" charset="0"/>
              </a:rPr>
              <a:t>项目设计目标</a:t>
            </a:r>
            <a:endParaRPr lang="zh-CN" altLang="en-US" dirty="0">
              <a:ea typeface="宋体" charset="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ea typeface="宋体" charset="0"/>
              </a:rPr>
              <a:t>本项目工作</a:t>
            </a: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653415"/>
            <a:ext cx="7715250" cy="43408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lvl="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ea typeface="宋体" charset="0"/>
              </a:rPr>
              <a:t>操作系统可靠性</a:t>
            </a:r>
            <a:endParaRPr lang="en-US" dirty="0"/>
          </a:p>
          <a:p>
            <a:pPr marL="190500" lvl="0" indent="-190500" algn="l">
              <a:lnSpc>
                <a:spcPct val="150000"/>
              </a:lnSpc>
              <a:buSzPct val="100000"/>
              <a:buChar char="•"/>
            </a:pPr>
            <a:r>
              <a:rPr lang="zh-CN" dirty="0">
                <a:ea typeface="宋体" charset="0"/>
              </a:rPr>
              <a:t>主流内核架构</a:t>
            </a:r>
            <a:endParaRPr lang="zh-CN" dirty="0">
              <a:ea typeface="宋体" charset="0"/>
            </a:endParaRPr>
          </a:p>
          <a:p>
            <a:pPr marL="190500" lvl="0" indent="-190500" algn="l">
              <a:lnSpc>
                <a:spcPct val="150000"/>
              </a:lnSpc>
              <a:buSzPct val="100000"/>
              <a:buChar char="•"/>
            </a:pPr>
            <a:r>
              <a:rPr lang="zh-CN" dirty="0">
                <a:ea typeface="宋体" charset="0"/>
              </a:rPr>
              <a:t>线程模型</a:t>
            </a:r>
            <a:endParaRPr lang="zh-CN" dirty="0">
              <a:ea typeface="宋体" charset="0"/>
            </a:endParaRPr>
          </a:p>
          <a:p>
            <a:pPr marL="190500" lvl="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ea typeface="宋体" charset="0"/>
              </a:rPr>
              <a:t>基于</a:t>
            </a:r>
            <a:r>
              <a:rPr lang="en-US" altLang="zh-CN" dirty="0">
                <a:ea typeface="宋体" charset="0"/>
              </a:rPr>
              <a:t>Rust</a:t>
            </a:r>
            <a:r>
              <a:rPr lang="zh-CN" altLang="en-US" dirty="0">
                <a:ea typeface="宋体" charset="0"/>
              </a:rPr>
              <a:t>语言改进内核架构</a:t>
            </a: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项目</a:t>
            </a: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：操作系统可靠性</a:t>
            </a:r>
            <a:endParaRPr lang="x-none" altLang="zh-CN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74065" y="1131570"/>
            <a:ext cx="7994650" cy="31521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可靠性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是操作系统的重要设计目标</a:t>
            </a: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1996 年欧洲空间局（ESA）阿丽亚娜 5 型火箭（Ariane 5）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由于软件缺陷而爆炸。</a:t>
            </a:r>
            <a:endParaRPr lang="zh-CN"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良好的可靠性设计可以帮助操作系统持续为用户提供服务。</a:t>
            </a: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endParaRPr lang="zh-CN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endParaRPr lang="zh-CN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操作系统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</a:t>
            </a:r>
            <a:r>
              <a:rPr sz="180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</a:t>
            </a:r>
            <a:r>
              <a:rPr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是影响操作系统可靠性的重要因素。</a:t>
            </a:r>
            <a:endParaRPr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项目背景：主流内核架构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653415"/>
            <a:ext cx="7715250" cy="43408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lvl="0" indent="-190500" algn="l">
              <a:lnSpc>
                <a:spcPct val="150000"/>
              </a:lnSpc>
              <a:buSzPct val="100000"/>
              <a:buChar char="•"/>
            </a:pPr>
            <a:endParaRPr lang="zh-CN" altLang="en-US" b="1" dirty="0">
              <a:ea typeface="宋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9755" y="824865"/>
            <a:ext cx="8035290" cy="153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宏内核：所有内核服务全部集成在内核态，</a:t>
            </a:r>
            <a:r>
              <a:rPr lang="zh-CN" altLang="en-US" sz="1600">
                <a:solidFill>
                  <a:srgbClr val="FF0000"/>
                </a:solidFill>
              </a:rPr>
              <a:t>性能好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可靠性、可拓展性差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微内核：核心服务在内核态，非核心服务用户态，</a:t>
            </a:r>
            <a:r>
              <a:rPr lang="zh-CN" altLang="en-US" sz="1600">
                <a:solidFill>
                  <a:srgbClr val="FF0000"/>
                </a:solidFill>
              </a:rPr>
              <a:t>可靠性强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性能较差</a:t>
            </a:r>
            <a:r>
              <a:rPr lang="zh-CN" altLang="en-US" sz="1600"/>
              <a:t>。</a:t>
            </a:r>
            <a:endParaRPr lang="zh-CN" altLang="en-US" sz="1600"/>
          </a:p>
          <a:p>
            <a:pPr indent="0">
              <a:buFont typeface="Arial" panose="020B0604020202020204" pitchFamily="34" charset="0"/>
              <a:buNone/>
            </a:pP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混合内核：折中方案，非核心服务以</a:t>
            </a:r>
            <a:r>
              <a:rPr lang="zh-CN" altLang="en-US" sz="1600">
                <a:solidFill>
                  <a:srgbClr val="FF0000"/>
                </a:solidFill>
              </a:rPr>
              <a:t>独立内核线程</a:t>
            </a:r>
            <a:r>
              <a:rPr lang="zh-CN" altLang="en-US" sz="1600"/>
              <a:t>的方式运行在内核态，</a:t>
            </a:r>
            <a:r>
              <a:rPr lang="zh-CN" altLang="en-US" sz="1600">
                <a:solidFill>
                  <a:srgbClr val="FF0000"/>
                </a:solidFill>
              </a:rPr>
              <a:t>避免</a:t>
            </a:r>
            <a:r>
              <a:rPr lang="en-US" altLang="zh-CN" sz="1600">
                <a:solidFill>
                  <a:srgbClr val="FF0000"/>
                </a:solidFill>
              </a:rPr>
              <a:t>IPC</a:t>
            </a:r>
            <a:r>
              <a:rPr lang="zh-CN" altLang="en-US" sz="1600">
                <a:solidFill>
                  <a:srgbClr val="FF0000"/>
                </a:solidFill>
                <a:ea typeface="宋体" charset="0"/>
              </a:rPr>
              <a:t>开销</a:t>
            </a:r>
            <a:r>
              <a:rPr lang="zh-CN" altLang="en-US" sz="1600">
                <a:ea typeface="宋体" charset="0"/>
              </a:rPr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7" name="图片 6" descr="三种架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2339340"/>
            <a:ext cx="7400290" cy="27520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x-none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项目背景：线程模型</a:t>
            </a:r>
            <a:endParaRPr lang="zh-CN" altLang="x-none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228725" y="1252538"/>
            <a:ext cx="7062787" cy="30718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endParaRPr lang="en-US" b="1" dirty="0"/>
          </a:p>
        </p:txBody>
      </p:sp>
      <p:pic>
        <p:nvPicPr>
          <p:cNvPr id="6" name="图片 5" descr="121threadmod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2658110"/>
            <a:ext cx="3609340" cy="2197735"/>
          </a:xfrm>
          <a:prstGeom prst="rect">
            <a:avLst/>
          </a:prstGeom>
        </p:spPr>
      </p:pic>
      <p:pic>
        <p:nvPicPr>
          <p:cNvPr id="7" name="图片 6" descr="many2manythread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58110"/>
            <a:ext cx="3520440" cy="2138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8445" y="970280"/>
            <a:ext cx="850963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一对一线程模型：一个用户线程配备一个内核线程（有独立内核栈），内核需要</a:t>
            </a:r>
            <a:r>
              <a:rPr lang="zh-CN" altLang="en-US" sz="1600">
                <a:solidFill>
                  <a:srgbClr val="FF0000"/>
                </a:solidFill>
              </a:rPr>
              <a:t>限制用户线程数量、内核线程数量多，上下文开销大。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>
                <a:ea typeface="宋体" charset="0"/>
              </a:rPr>
              <a:t>多对多线程模型：每个内核线程服务多个用户线程，</a:t>
            </a:r>
            <a:r>
              <a:rPr lang="zh-CN" altLang="en-US" sz="1600">
                <a:solidFill>
                  <a:srgbClr val="FF0000"/>
                </a:solidFill>
                <a:ea typeface="宋体" charset="0"/>
              </a:rPr>
              <a:t>节省内存</a:t>
            </a:r>
            <a:r>
              <a:rPr lang="zh-CN" altLang="en-US" sz="1600">
                <a:ea typeface="宋体" charset="0"/>
              </a:rPr>
              <a:t>，</a:t>
            </a:r>
            <a:r>
              <a:rPr lang="zh-CN" altLang="en-US" sz="1600">
                <a:solidFill>
                  <a:srgbClr val="FF0000"/>
                </a:solidFill>
                <a:ea typeface="宋体" charset="0"/>
              </a:rPr>
              <a:t>节省上下文切换开销</a:t>
            </a:r>
            <a:r>
              <a:rPr lang="zh-CN" altLang="en-US" sz="1600">
                <a:ea typeface="宋体" charset="0"/>
              </a:rPr>
              <a:t>。</a:t>
            </a:r>
            <a:endParaRPr lang="zh-CN" altLang="en-US" sz="1600">
              <a:ea typeface="宋体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0525" y="817880"/>
            <a:ext cx="8455660" cy="3517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内存安全性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在同一地址空间实现内存隔离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优化微内核性能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用户态服务下沉内核态</a:t>
            </a:r>
            <a:r>
              <a:rPr lang="zh-CN" altLang="en-US"/>
              <a:t>，由</a:t>
            </a:r>
            <a:r>
              <a:rPr lang="en-US" altLang="zh-CN"/>
              <a:t>Rust</a:t>
            </a:r>
            <a:r>
              <a:rPr lang="zh-CN" altLang="en-US">
                <a:ea typeface="宋体" charset="0"/>
              </a:rPr>
              <a:t>保证访存隔离。</a:t>
            </a:r>
            <a:endParaRPr lang="zh-CN" altLang="en-US">
              <a:ea typeface="宋体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>
              <a:ea typeface="宋体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无栈异步协程支持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支持一个线程中的多个异步任务并发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优化线程模型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一个内核线程服务多个用户线程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项目</a:t>
            </a: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：基于</a:t>
            </a:r>
            <a:r>
              <a:rPr lang="en-US" altLang="zh-CN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Rust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语言改进内核架构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绪论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653415"/>
            <a:ext cx="7715250" cy="2030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项目设计目标</a:t>
            </a:r>
            <a:endParaRPr lang="zh-CN" altLang="en-US" dirty="0">
              <a:solidFill>
                <a:srgbClr val="FF0000"/>
              </a:solidFill>
              <a:ea typeface="宋体" charset="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ea typeface="宋体" charset="0"/>
              </a:rPr>
              <a:t>本文工作</a:t>
            </a: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设计目标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875" y="1062038"/>
            <a:ext cx="7715250" cy="34528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475" y="846455"/>
            <a:ext cx="8142605" cy="3478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</a:t>
            </a:r>
            <a:r>
              <a:rPr lang="en-US" alt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Rust</a:t>
            </a:r>
            <a:r>
              <a:rPr lang="zh-CN" altLang="en-US" dirty="0">
                <a:latin typeface="微软雅黑" pitchFamily="34" charset="0"/>
                <a:ea typeface="宋体" charset="0"/>
                <a:cs typeface="微软雅黑" pitchFamily="34" charset="-120"/>
              </a:rPr>
              <a:t>语言，设计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实现一个</a:t>
            </a:r>
            <a:r>
              <a:rPr lang="zh-CN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多对多线程模型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</a:t>
            </a:r>
            <a:r>
              <a:rPr lang="zh-CN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混合内核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内存安全特性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代替传统地址空间隔离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,保证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服务间隔离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性的同时,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避免IPC 产生的性能开销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;</a:t>
            </a: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第一点基础上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</a:t>
            </a:r>
            <a:r>
              <a:rPr lang="zh-CN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设计一种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内核服务故障恢复机制,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进一步提升内核可靠性,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应对内存缺陷之外的其它缺陷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(如</a:t>
            </a:r>
            <a:r>
              <a:rPr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逻辑错误触发 panic</a:t>
            </a:r>
            <a:r>
              <a:rPr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)。</a:t>
            </a:r>
            <a:endParaRPr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绪论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653415"/>
            <a:ext cx="7715250" cy="2030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chemeClr val="tx1"/>
                </a:solidFill>
                <a:ea typeface="宋体" charset="0"/>
              </a:rPr>
              <a:t>项目设计目标</a:t>
            </a:r>
            <a:endParaRPr lang="zh-CN" altLang="en-US" dirty="0">
              <a:solidFill>
                <a:schemeClr val="tx1"/>
              </a:solidFill>
              <a:ea typeface="宋体" charset="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本项目工作</a:t>
            </a:r>
            <a:endParaRPr lang="zh-CN" altLang="en-US" dirty="0">
              <a:solidFill>
                <a:srgbClr val="FF0000"/>
              </a:solidFill>
              <a:ea typeface="宋体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项目</a:t>
            </a: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</a:t>
            </a:r>
            <a:endParaRPr lang="en-US" sz="2660" dirty="0"/>
          </a:p>
        </p:txBody>
      </p:sp>
      <p:sp>
        <p:nvSpPr>
          <p:cNvPr id="9" name="文本框 8"/>
          <p:cNvSpPr txBox="1"/>
          <p:nvPr/>
        </p:nvSpPr>
        <p:spPr>
          <a:xfrm>
            <a:off x="548640" y="1002665"/>
            <a:ext cx="784542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设计实现了一个</a:t>
            </a:r>
            <a:r>
              <a:rPr lang="zh-CN" altLang="en-US">
                <a:solidFill>
                  <a:srgbClr val="FF0000"/>
                </a:solidFill>
              </a:rPr>
              <a:t>混合内核架构</a:t>
            </a:r>
            <a:r>
              <a:rPr lang="zh-CN" altLang="en-US">
                <a:solidFill>
                  <a:schemeClr val="tx1"/>
                </a:solidFill>
              </a:rPr>
              <a:t>；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基于Rust无栈异步协程机制和内核服务线程模型实现了一个</a:t>
            </a:r>
            <a:r>
              <a:rPr lang="zh-CN" altLang="en-US">
                <a:solidFill>
                  <a:srgbClr val="FF0000"/>
                </a:solidFill>
              </a:rPr>
              <a:t>多对多线程模型</a:t>
            </a:r>
            <a:r>
              <a:rPr lang="zh-CN" altLang="en-US"/>
              <a:t>；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为了进行对比，实现了宏内核、混合内核两种内核对象，内核可以以</a:t>
            </a:r>
            <a:r>
              <a:rPr lang="zh-CN" altLang="en-US">
                <a:solidFill>
                  <a:srgbClr val="FF0000"/>
                </a:solidFill>
              </a:rPr>
              <a:t>两种架构模式运行</a:t>
            </a:r>
            <a:r>
              <a:rPr lang="zh-CN" altLang="en-US"/>
              <a:t>；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直接实现</a:t>
            </a:r>
            <a:r>
              <a:rPr lang="zh-CN" altLang="en-US">
                <a:solidFill>
                  <a:srgbClr val="FF0000"/>
                </a:solidFill>
              </a:rPr>
              <a:t>Linux系统调用</a:t>
            </a:r>
            <a:r>
              <a:rPr lang="zh-CN" altLang="en-US"/>
              <a:t>；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初步完成了</a:t>
            </a:r>
            <a:r>
              <a:rPr lang="zh-CN" altLang="en-US">
                <a:solidFill>
                  <a:srgbClr val="FF0000"/>
                </a:solidFill>
              </a:rPr>
              <a:t>musl-libc支持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支持c语言应用程序</a:t>
            </a:r>
            <a:r>
              <a:rPr lang="zh-CN" altLang="en-US"/>
              <a:t>（静态链接）；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zh-CN" altLang="en-US"/>
              <a:t>正在逐步完成对sqlite3, busybox等典型Linux应用程序的支持；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本文工作</a:t>
            </a:r>
            <a:endParaRPr lang="en-US" sz="266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" y="850900"/>
            <a:ext cx="4102100" cy="3759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40" y="850900"/>
            <a:ext cx="4206875" cy="375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88" y="1952625"/>
            <a:ext cx="1452563" cy="12430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267075" y="2128838"/>
            <a:ext cx="5101590" cy="1647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altLang="en-US" sz="350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可靠性增强内核架构设计</a:t>
            </a:r>
            <a:endParaRPr lang="zh-CN" altLang="en-US" sz="350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可靠性增强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内核架构</a:t>
            </a: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904875" y="1062038"/>
            <a:ext cx="7715250" cy="345281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itchFamily="34" charset="0"/>
                <a:ea typeface="宋体" charset="0"/>
                <a:cs typeface="微软雅黑" pitchFamily="34" charset="-120"/>
                <a:sym typeface="+mn-ea"/>
              </a:rPr>
              <a:t>项目总体架构</a:t>
            </a:r>
            <a:endParaRPr lang="zh-CN" altLang="en-US" b="1" dirty="0">
              <a:solidFill>
                <a:schemeClr val="tx1"/>
              </a:solidFill>
              <a:latin typeface="微软雅黑" pitchFamily="34" charset="0"/>
              <a:ea typeface="宋体" charset="0"/>
              <a:cs typeface="微软雅黑" pitchFamily="34" charset="-120"/>
              <a:sym typeface="+mn-ea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多对多线程模型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0"/>
                <a:ea typeface="宋体" charset="0"/>
                <a:cs typeface="微软雅黑" pitchFamily="34" charset="-120"/>
                <a:sym typeface="+mn-ea"/>
              </a:rPr>
              <a:t>的混合内核架构</a:t>
            </a:r>
            <a:endParaRPr lang="en-US" b="1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内核服务线程故障恢复</a:t>
            </a: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可靠性增强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内核架构</a:t>
            </a: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：项目总体架构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pic>
        <p:nvPicPr>
          <p:cNvPr id="5" name="图片 4" descr="项目总体架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85" y="685800"/>
            <a:ext cx="4272280" cy="43592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5750" y="1000125"/>
            <a:ext cx="3867785" cy="3892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r>
              <a:rPr lang="zh-CN" altLang="en-US" b="1"/>
              <a:t>编译时利用Rust feature选择宏内核或混合内核</a:t>
            </a: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r>
              <a:rPr lang="zh-CN" altLang="en-US" b="1"/>
              <a:t>直接提供Linux系统调用</a:t>
            </a: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r>
              <a:rPr lang="zh-CN" altLang="en-US" b="1"/>
              <a:t>初步支持musl-libc和C语言应用程序</a:t>
            </a:r>
            <a:endParaRPr lang="zh-CN" altLang="en-US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可靠性增强</a:t>
            </a:r>
            <a:r>
              <a:rPr lang="zh-CN" altLang="en-US" sz="240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  <a:sym typeface="+mn-ea"/>
              </a:rPr>
              <a:t>内核架构</a:t>
            </a:r>
            <a:r>
              <a:rPr lang="en-US" sz="240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设计</a:t>
            </a:r>
            <a:r>
              <a:rPr lang="zh-CN" altLang="en-US" sz="240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  <a:sym typeface="+mn-ea"/>
              </a:rPr>
              <a:t>：多对多线程模型的混合内核</a:t>
            </a:r>
            <a:endParaRPr 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01295" y="812800"/>
            <a:ext cx="3269615" cy="402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b="1"/>
              <a:t>内核服务线程提供非核心服务（如文件系统、驱动程序等）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b="1"/>
              <a:t>协程执行线程执行所有用户线程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b="1">
              <a:solidFill>
                <a:srgbClr val="FF0000"/>
              </a:solidFill>
              <a:ea typeface="宋体" charset="0"/>
            </a:endParaRPr>
          </a:p>
        </p:txBody>
      </p:sp>
      <p:pic>
        <p:nvPicPr>
          <p:cNvPr id="6" name="图片 5" descr="混合内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75" y="685800"/>
            <a:ext cx="5263515" cy="42233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内核服务线程设计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130175" y="944880"/>
            <a:ext cx="2310765" cy="3956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提供一种特定的内核服务</a:t>
            </a:r>
            <a:endParaRPr 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拥有</a:t>
            </a:r>
            <a:r>
              <a:rPr lang="en-US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独立的内核栈和控制流</a:t>
            </a:r>
            <a:endParaRPr lang="en-US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崩溃时</a:t>
            </a:r>
            <a:r>
              <a:rPr lang="en-US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不影响其他内核线程和内核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，可尝试重启</a:t>
            </a:r>
            <a:endParaRPr lang="zh-CN" altLang="en-US" b="1" dirty="0">
              <a:solidFill>
                <a:srgbClr val="FF0000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30" y="995045"/>
            <a:ext cx="6558280" cy="3432175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协程执行器线程设计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127000" y="1061720"/>
            <a:ext cx="2452370" cy="3453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以Rust无栈异步协程代替传统内核线程</a:t>
            </a:r>
            <a:endParaRPr lang="en-US" sz="1680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降低上下文切换开销</a:t>
            </a:r>
            <a:endParaRPr lang="en-US" sz="1680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节省内存</a:t>
            </a:r>
            <a:endParaRPr lang="en-US" sz="1680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85" y="718820"/>
            <a:ext cx="6162040" cy="4402455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内核服务线程故障恢复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565150" y="4119245"/>
            <a:ext cx="7386955" cy="8616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内核服务线程故障时，其丢弃出错的请求，内核重置内核栈和控制流。</a:t>
            </a: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任何内核服务线程故障不会影响内核和其余内核服务线程。</a:t>
            </a:r>
            <a:endParaRPr lang="en-US" sz="1680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" y="864870"/>
            <a:ext cx="8729980" cy="3202940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88" y="1952625"/>
            <a:ext cx="1452563" cy="12430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267075" y="2128838"/>
            <a:ext cx="5101590" cy="1647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altLang="en-US" sz="350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用户程序支持</a:t>
            </a:r>
            <a:endParaRPr lang="zh-CN" altLang="en-US" sz="350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zh-CN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musl-libc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和</a:t>
            </a:r>
            <a:r>
              <a:rPr lang="en-US" altLang="zh-CN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C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语言用户程序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04875" y="1062038"/>
            <a:ext cx="7715250" cy="345281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由于直接支持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系统调用，只要符合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Linux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用户栈调用约定和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musl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线程库实现约定，就可以完成对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musl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的支持。</a:t>
            </a:r>
            <a:endParaRPr lang="zh-CN" alt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实际测试时，在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宿主机上编译好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C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程序确保可正常运行，再将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elf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文件打包到</a:t>
            </a:r>
            <a:r>
              <a:rPr lang="en-US" altLang="zh-CN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Rust</a:t>
            </a:r>
            <a:r>
              <a:rPr lang="zh-CN" altLang="en-US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内核中测试运行。</a:t>
            </a:r>
            <a:endParaRPr lang="zh-CN" altLang="en-US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Busybox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和</a:t>
            </a:r>
            <a:r>
              <a:rPr lang="en-US" altLang="zh-CN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sqlite</a:t>
            </a:r>
            <a:r>
              <a:rPr lang="zh-CN" altLang="en-US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等较大程序</a:t>
            </a:r>
            <a:endParaRPr lang="zh-CN" altLang="en-US" sz="266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1135" y="1062355"/>
            <a:ext cx="8520430" cy="3453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使用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strace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命令查看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elf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文件使用的系统调用，再在内核中逐个实现。</a:t>
            </a: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完成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busybox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支持后，即可直接使用其中自带的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ash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作为内核的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shell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程序。</a:t>
            </a:r>
            <a:endParaRPr lang="en-US" sz="1680" b="1" dirty="0">
              <a:solidFill>
                <a:srgbClr val="38383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目前仍在调试支持中。</a:t>
            </a: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88" y="1952625"/>
            <a:ext cx="1452563" cy="12430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267075" y="2128838"/>
            <a:ext cx="5101590" cy="1647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altLang="en-US" sz="350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项目</a:t>
            </a:r>
            <a:r>
              <a:rPr lang="en-US" sz="350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3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7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025" y="133350"/>
            <a:ext cx="780669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sz="2660" b="1" dirty="0">
                <a:solidFill>
                  <a:srgbClr val="1C3C5F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项目总结</a:t>
            </a:r>
            <a:endParaRPr lang="zh-CN" sz="2660" b="1" dirty="0">
              <a:solidFill>
                <a:srgbClr val="1C3C5F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1135" y="1062355"/>
            <a:ext cx="8520430" cy="34531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本项目实现了一个多对多线程模型的混合内核框架，并实现了宏内核与混合内核两种内核架构。</a:t>
            </a: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完成了对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musl-libc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和简单</a:t>
            </a:r>
            <a:r>
              <a:rPr lang="en-US" altLang="zh-CN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c</a:t>
            </a:r>
            <a:r>
              <a:rPr lang="zh-CN" altLang="en-US" sz="1680" b="1" dirty="0">
                <a:solidFill>
                  <a:srgbClr val="383838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语言用户程序的初步支持。</a:t>
            </a:r>
            <a:endParaRPr lang="zh-CN" altLang="en-US" sz="1680" b="1" dirty="0">
              <a:solidFill>
                <a:srgbClr val="383838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endParaRPr lang="en-US" sz="1680" b="1" dirty="0"/>
          </a:p>
          <a:p>
            <a:pPr marL="190500" indent="-190500" algn="l">
              <a:lnSpc>
                <a:spcPct val="150000"/>
              </a:lnSpc>
              <a:buSzPct val="100000"/>
              <a:buChar char="•"/>
            </a:pPr>
            <a:r>
              <a:rPr lang="zh-CN" altLang="en-US" sz="1680" b="1" dirty="0">
                <a:solidFill>
                  <a:srgbClr val="FF0000"/>
                </a:solidFill>
                <a:latin typeface="微软雅黑" pitchFamily="34" charset="0"/>
                <a:ea typeface="宋体" charset="0"/>
                <a:cs typeface="微软雅黑" pitchFamily="34" charset="-120"/>
              </a:rPr>
              <a:t>由于目前支持的设备驱动程序数量少，应用程序生态不足，难以说明混合内核对于内核可靠性提升的作用，尚未进行系统的测试分析。</a:t>
            </a:r>
            <a:endParaRPr lang="zh-CN" altLang="en-US" sz="1680" b="1" dirty="0">
              <a:solidFill>
                <a:srgbClr val="FF0000"/>
              </a:solidFill>
              <a:latin typeface="微软雅黑" pitchFamily="34" charset="0"/>
              <a:ea typeface="宋体" charset="0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54835"/>
            <a:ext cx="5386070" cy="55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1C3C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欢迎各位老师批评指正</a:t>
            </a:r>
            <a:endParaRPr lang="zh-CN" altLang="en-US" sz="4000" b="1" dirty="0">
              <a:solidFill>
                <a:srgbClr val="1C3C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6337" y="2276475"/>
            <a:ext cx="3395663" cy="10334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38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THANKS</a:t>
            </a:r>
            <a:endParaRPr lang="en-US" sz="4800" dirty="0"/>
          </a:p>
        </p:txBody>
      </p:sp>
      <p:pic>
        <p:nvPicPr>
          <p:cNvPr id="5" name="图片 4" descr="中国人民解放军国防科技大学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435" y="1740535"/>
            <a:ext cx="1870710" cy="18751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>On-screen Show (16:9)</PresentationFormat>
  <Paragraphs>203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微软雅黑</vt:lpstr>
      <vt:lpstr>微软雅黑</vt:lpstr>
      <vt:lpstr>宋体</vt:lpstr>
      <vt:lpstr>Wingdings</vt:lpstr>
      <vt:lpstr>Droid Sans Fallback</vt:lpstr>
      <vt:lpstr>Calibri</vt:lpstr>
      <vt:lpstr>Trebuchet MS</vt:lpstr>
      <vt:lpstr>Arial Unicode MS</vt:lpstr>
      <vt:lpstr>等线</vt:lpstr>
      <vt:lpstr>C059</vt:lpstr>
      <vt:lpstr>华文楷体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一种基于Rust语言的操作系统内核服务可靠性增强设计与实现</dc:title>
  <dc:creator>邓荣达</dc:creator>
  <cp:lastModifiedBy>微信用户</cp:lastModifiedBy>
  <cp:revision>317</cp:revision>
  <dcterms:created xsi:type="dcterms:W3CDTF">2025-08-17T03:38:33Z</dcterms:created>
  <dcterms:modified xsi:type="dcterms:W3CDTF">2025-08-17T03:38:33Z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604B5C93A7A64C9DA0973E68A3039680_42</vt:lpwstr>
  </property>
  <property fmtid="{D5CDD505-2E9C-101B-9397-08002B2CF9AE}" pid="3" name="KSOProductBuildVer">
    <vt:lpwstr>2052-12.1.0.17900</vt:lpwstr>
  </property>
</Properties>
</file>